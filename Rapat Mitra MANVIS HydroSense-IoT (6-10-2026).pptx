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7" r:id="rId6"/>
    <p:sldId id="260" r:id="rId7"/>
    <p:sldId id="261" r:id="rId8"/>
    <p:sldId id="262" r:id="rId9"/>
    <p:sldId id="264" r:id="rId10"/>
    <p:sldId id="265" r:id="rId11"/>
    <p:sldId id="266" r:id="rId12"/>
    <p:sldId id="278" r:id="rId13"/>
    <p:sldId id="267" r:id="rId14"/>
    <p:sldId id="268" r:id="rId15"/>
    <p:sldId id="269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09385CDB-7A91-D5A5-51FE-E5D1FDB49F64}">
          <p14:sldIdLst>
            <p14:sldId id="256"/>
            <p14:sldId id="257"/>
            <p14:sldId id="258"/>
          </p14:sldIdLst>
        </p14:section>
        <p14:section name="Bentuk Alat" id="{79DB2F6D-AF26-EF1D-E00B-4BC548CEA950}">
          <p14:sldIdLst>
            <p14:sldId id="259"/>
            <p14:sldId id="277"/>
            <p14:sldId id="260"/>
            <p14:sldId id="261"/>
            <p14:sldId id="262"/>
          </p14:sldIdLst>
        </p14:section>
        <p14:section name="Pembuatan &amp; Keamanan" id="{C452D32E-B4AF-0763-44DE-06A1C2EACD86}">
          <p14:sldIdLst>
            <p14:sldId id="264"/>
            <p14:sldId id="265"/>
            <p14:sldId id="266"/>
            <p14:sldId id="278"/>
            <p14:sldId id="267"/>
          </p14:sldIdLst>
        </p14:section>
        <p14:section name="Pembiayaan Mitra" id="{7C28AE23-CE07-D55C-8908-CA6EE852E4C8}">
          <p14:sldIdLst>
            <p14:sldId id="268"/>
            <p14:sldId id="269"/>
          </p14:sldIdLst>
        </p14:section>
        <p14:section name="Kerja Sama &amp; Tindak Lanjut" id="{EFF539A2-EB49-D6F3-7DA4-263166032235}">
          <p14:sldIdLst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2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604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99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151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RAB_2.xlsx, sheet "PT.Manvis". Tunai = 72,5 juta; natura = 88 juta; total 160,5 juta.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KSI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alpha val="60000"/>
                  </a:schemeClr>
                </a:solidFill>
              </a:rPr>
              <a:t>HydroSense-IoT · Rapat Koordinasi ITB – PT MANVIS Teknologi Enjinering · PRIME STeP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C8B9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C8B9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46760" y="133096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Rapat Koordinasi ITB dan PT MANVIS </a:t>
            </a:r>
            <a:r>
              <a:rPr lang="en-US" sz="6000" dirty="0" err="1">
                <a:solidFill>
                  <a:schemeClr val="tx1"/>
                </a:solidFill>
              </a:rPr>
              <a:t>Teknologi</a:t>
            </a:r>
            <a:r>
              <a:rPr lang="en-US" sz="6000" dirty="0">
                <a:solidFill>
                  <a:schemeClr val="tx1"/>
                </a:solidFill>
              </a:rPr>
              <a:t> </a:t>
            </a:r>
            <a:r>
              <a:rPr lang="en-US" sz="6000" dirty="0" err="1">
                <a:solidFill>
                  <a:schemeClr val="tx1"/>
                </a:solidFill>
              </a:rPr>
              <a:t>Enjinering</a:t>
            </a:r>
            <a:endParaRPr lang="en-US" sz="6000" dirty="0">
              <a:solidFill>
                <a:schemeClr val="tx1"/>
              </a:solidFill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46760" y="32512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tx1"/>
                </a:solidFill>
              </a:rPr>
              <a:t>HydroSense-IoT: Sistem Monitoring Hidrologi </a:t>
            </a:r>
            <a:r>
              <a:rPr lang="en-US" sz="3200" dirty="0" err="1">
                <a:solidFill>
                  <a:schemeClr val="tx1"/>
                </a:solidFill>
              </a:rPr>
              <a:t>Otomatis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sz="3200" dirty="0" err="1">
                <a:solidFill>
                  <a:schemeClr val="tx1"/>
                </a:solidFill>
              </a:rPr>
              <a:t>Berbasis</a:t>
            </a:r>
            <a:r>
              <a:rPr lang="en-US" sz="3200" dirty="0">
                <a:solidFill>
                  <a:schemeClr val="tx1"/>
                </a:solidFill>
              </a:rPr>
              <a:t> IoT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Bentuk alat · pembuatan &amp; produksi · keamanan lokasi · dashboard · </a:t>
            </a:r>
            <a:r>
              <a:rPr lang="en-US" sz="24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Pembiayaan</a:t>
            </a: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b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· kerja sama &amp; tindak lanjut</a:t>
            </a:r>
            <a:endParaRPr lang="en-US" sz="32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PRIME STeP 2026 · Institut Teknologi Bandung × PT MANVIS Teknologi Enjinering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dan tujuan rapat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239790"/>
              </p:ext>
            </p:extLst>
          </p:nvPr>
        </p:nvGraphicFramePr>
        <p:xfrm>
          <a:off x="457200" y="1097280"/>
          <a:ext cx="11109960" cy="2560320"/>
        </p:xfrm>
        <a:graphic>
          <a:graphicData uri="http://schemas.openxmlformats.org/drawingml/2006/table">
            <a:tbl>
              <a:tblPr/>
              <a:tblGrid>
                <a:gridCol w="90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4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4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 yang diharapkan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kern="1200" dirty="0">
                          <a:solidFill>
                            <a:srgbClr val="6F9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Bentuk dan spesifikasi alat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 err="1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Sampai</a:t>
                      </a: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konfigurasi unit TKT 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6F9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Pembuatan &amp; produksi alat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Membagi pekerjaan fabrikasi, firmware, burning test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6F9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Keamanan lokasi &amp; instalasi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Menetapkan standar pengamanan &amp; penangkal petir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6F9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cloud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Menyepakati VPS, programmer, fitur prioritas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6F9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 err="1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Pembiayaan</a:t>
                      </a:r>
                      <a:r>
                        <a:rPr lang="en-US" sz="18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1800" b="1" dirty="0" err="1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kesepakatan</a:t>
                      </a:r>
                      <a:r>
                        <a:rPr lang="en-US" sz="18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harga</a:t>
                      </a:r>
                      <a:r>
                        <a:rPr lang="en-US" sz="18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dari</a:t>
                      </a:r>
                      <a:r>
                        <a:rPr lang="en-US" sz="18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mitra</a:t>
                      </a:r>
                      <a:r>
                        <a:rPr lang="en-US" sz="18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Konfirmasi item, nilai, bentuk (tunai/natura), bukti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6F9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Lokasi uji, jadwal &amp; pelaporan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Logistik </a:t>
                      </a:r>
                      <a:r>
                        <a:rPr lang="en-US" sz="1800" dirty="0" err="1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pemasangan</a:t>
                      </a: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panel-deskripsi"/>
          <p:cNvSpPr/>
          <p:nvPr/>
        </p:nvSpPr>
        <p:spPr>
          <a:xfrm>
            <a:off x="457200" y="4592320"/>
            <a:ext cx="11247120" cy="904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ks-deskripsi"/>
          <p:cNvSpPr txBox="1"/>
          <p:nvPr/>
        </p:nvSpPr>
        <p:spPr>
          <a:xfrm>
            <a:off x="487680" y="4724400"/>
            <a:ext cx="11079480" cy="772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dirty="0" err="1"/>
              <a:t>B</a:t>
            </a:r>
            <a:r>
              <a:rPr lang="en-US" dirty="0" err="1">
                <a:solidFill>
                  <a:schemeClr val="tx1"/>
                </a:solidFill>
              </a:rPr>
              <a:t>entuk</a:t>
            </a:r>
            <a:r>
              <a:rPr lang="en-US" dirty="0">
                <a:solidFill>
                  <a:schemeClr val="tx1"/>
                </a:solidFill>
              </a:rPr>
              <a:t> akhir unit, siapa memproduksi apa, standar keamanan alat di lapangan, dan item </a:t>
            </a:r>
            <a:r>
              <a:rPr lang="en-US" dirty="0" err="1">
                <a:solidFill>
                  <a:schemeClr val="tx1"/>
                </a:solidFill>
              </a:rPr>
              <a:t>pembiayaan</a:t>
            </a:r>
            <a:r>
              <a:rPr lang="en-US" dirty="0">
                <a:solidFill>
                  <a:schemeClr val="tx1"/>
                </a:solidFill>
              </a:rPr>
              <a:t> yang harus terealisasi beserta bukti </a:t>
            </a:r>
            <a:r>
              <a:rPr lang="en-US" dirty="0" err="1">
                <a:solidFill>
                  <a:schemeClr val="tx1"/>
                </a:solidFill>
              </a:rPr>
              <a:t>pertanggungjawabannya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/>
              <a:t>Luaran</a:t>
            </a: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Program Prime Step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04178" y="452721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Rp160,5 jt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806722"/>
              </p:ext>
            </p:extLst>
          </p:nvPr>
        </p:nvGraphicFramePr>
        <p:xfrm>
          <a:off x="548640" y="1423339"/>
          <a:ext cx="11018520" cy="2926080"/>
        </p:xfrm>
        <a:graphic>
          <a:graphicData uri="http://schemas.openxmlformats.org/drawingml/2006/table">
            <a:tbl>
              <a:tblPr/>
              <a:tblGrid>
                <a:gridCol w="2174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9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4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Aktivitas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Lingkup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 mitra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Teknis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hardware 3 unit (4G LTE, solar), kalibrasi, dashboard cloud, uji fungsional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industri, firmware, burning test, programmer &amp; VPS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Lapangan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Identifikasi lokasi, pemasangan &amp; commissioning, monitoring operasional, validasi end-user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Pendampingan teknis, logistik, pengamanan lokasi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Bisnis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Kick-off &amp; MoU, survei pasar B2B/B2G, FGD, market study &amp; business plan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Jaringan klien, insentif responden, dokumen bersama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· Diseminasi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Hak cipta perangkat lunak, jurnal Q1, self-assessment TKT 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Masukan kebutuhan industri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panel-deskripsi"/>
          <p:cNvSpPr/>
          <p:nvPr/>
        </p:nvSpPr>
        <p:spPr>
          <a:xfrm>
            <a:off x="548640" y="4653280"/>
            <a:ext cx="11018520" cy="53848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ks-deskripsi"/>
          <p:cNvSpPr txBox="1"/>
          <p:nvPr/>
        </p:nvSpPr>
        <p:spPr>
          <a:xfrm>
            <a:off x="734060" y="4732945"/>
            <a:ext cx="10693400" cy="675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dirty="0">
                <a:solidFill>
                  <a:schemeClr val="tx1"/>
                </a:solidFill>
              </a:rPr>
              <a:t>Mitra terlibat di keempat aktivitas, dengan porsi terbesar pada aktivitas teknis dan </a:t>
            </a:r>
            <a:r>
              <a:rPr lang="en-US" dirty="0" err="1">
                <a:solidFill>
                  <a:schemeClr val="tx1"/>
                </a:solidFill>
              </a:rPr>
              <a:t>lapangan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FA5944-55AE-7C35-B46C-ADFEA423574D}"/>
              </a:ext>
            </a:extLst>
          </p:cNvPr>
          <p:cNvSpPr txBox="1"/>
          <p:nvPr/>
        </p:nvSpPr>
        <p:spPr>
          <a:xfrm>
            <a:off x="152400" y="915940"/>
            <a:ext cx="4246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Kontribusi</a:t>
            </a: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Mitra PT MANVIS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Bentuk dan spesifikasi alat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1"/>
                </a:solidFill>
              </a:rPr>
              <a:t>Konfigurasi unit HydroSense-IoT yang akan divalidasi pada TKT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993FDA3D-041E-233D-2D9A-FA302074BCD5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10291218" y="3086100"/>
            <a:ext cx="19007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CONCEPTUAL FRAMEWORK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28D10E-70AF-69DC-D33F-A62DE2AE1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912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568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Bentuk fisik dan tata letak unit</a:t>
            </a:r>
            <a:endParaRPr lang="en-US" sz="2800" dirty="0"/>
          </a:p>
        </p:txBody>
      </p:sp>
      <p:pic>
        <p:nvPicPr>
          <p:cNvPr id="3" name="gambar-instalasi" descr="instalas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0" y="884498"/>
            <a:ext cx="7762240" cy="34115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34179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tx1"/>
                </a:solidFill>
              </a:rPr>
              <a:t>Gambar 1. Model 3D tata letak dan instalasi unit di Kampus ITB Jatinangor (kiri), foto pemasangan rain gauge, panel kontrol, dan sensor (kanan)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76247"/>
              </p:ext>
            </p:extLst>
          </p:nvPr>
        </p:nvGraphicFramePr>
        <p:xfrm>
          <a:off x="284480" y="4582160"/>
          <a:ext cx="7670800" cy="1910082"/>
        </p:xfrm>
        <a:graphic>
          <a:graphicData uri="http://schemas.openxmlformats.org/drawingml/2006/table">
            <a:tbl>
              <a:tblPr/>
              <a:tblGrid>
                <a:gridCol w="2432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kontrol (box IP65)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Mikrokontroler, modem 4G, catu daya, buffer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Tiang/frame galvanis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Penopang panel, antena, dan sensor ultrasonik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Sumur uji (buis beton)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Ruang ukur tinggi muka air/infiltrasi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tanah 0,5 m &amp; 1,0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 kelembapan tanah pada dua kedalaman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 gauge tipping bucket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Intensitas dan volume hujan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panel-deskripsi"/>
          <p:cNvSpPr/>
          <p:nvPr/>
        </p:nvSpPr>
        <p:spPr>
          <a:xfrm>
            <a:off x="8183880" y="960120"/>
            <a:ext cx="3520440" cy="56235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ks-deskripsi"/>
          <p:cNvSpPr txBox="1"/>
          <p:nvPr/>
        </p:nvSpPr>
        <p:spPr>
          <a:xfrm>
            <a:off x="8321040" y="660400"/>
            <a:ext cx="3246120" cy="551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400"/>
              </a:spcAft>
              <a:buNone/>
            </a:pPr>
            <a:endParaRPr lang="en-US" sz="17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Satu unit terdiri atas </a:t>
            </a:r>
            <a:r>
              <a:rPr lang="en-US" sz="1700" b="1" dirty="0">
                <a:solidFill>
                  <a:schemeClr val="tx1"/>
                </a:solidFill>
              </a:rPr>
              <a:t>panel kontrol </a:t>
            </a:r>
            <a:r>
              <a:rPr lang="en-US" sz="1700" dirty="0">
                <a:solidFill>
                  <a:schemeClr val="tx1"/>
                </a:solidFill>
              </a:rPr>
              <a:t>pada tiang, </a:t>
            </a:r>
            <a:r>
              <a:rPr lang="en-US" sz="1700" b="1" dirty="0" err="1">
                <a:solidFill>
                  <a:schemeClr val="tx1"/>
                </a:solidFill>
              </a:rPr>
              <a:t>sumur</a:t>
            </a:r>
            <a:r>
              <a:rPr lang="en-US" sz="1700" dirty="0">
                <a:solidFill>
                  <a:schemeClr val="tx1"/>
                </a:solidFill>
              </a:rPr>
              <a:t>/</a:t>
            </a:r>
            <a:r>
              <a:rPr lang="en-US" sz="1700" b="1" dirty="0" err="1">
                <a:solidFill>
                  <a:schemeClr val="tx1"/>
                </a:solidFill>
              </a:rPr>
              <a:t>bak</a:t>
            </a:r>
            <a:r>
              <a:rPr lang="en-US" sz="1700" dirty="0">
                <a:solidFill>
                  <a:schemeClr val="tx1"/>
                </a:solidFill>
              </a:rPr>
              <a:t>/</a:t>
            </a:r>
            <a:r>
              <a:rPr lang="en-US" sz="1700" dirty="0" err="1">
                <a:solidFill>
                  <a:schemeClr val="tx1"/>
                </a:solidFill>
              </a:rPr>
              <a:t>ruang</a:t>
            </a:r>
            <a:r>
              <a:rPr lang="en-US" sz="1700" dirty="0">
                <a:solidFill>
                  <a:schemeClr val="tx1"/>
                </a:solidFill>
              </a:rPr>
              <a:t> uji infiltrasi berbahan buis beton, dua </a:t>
            </a:r>
            <a:r>
              <a:rPr lang="en-US" sz="1700" b="1" dirty="0">
                <a:solidFill>
                  <a:schemeClr val="tx1"/>
                </a:solidFill>
              </a:rPr>
              <a:t>sensor kelembapan tanah</a:t>
            </a:r>
            <a:r>
              <a:rPr lang="en-US" sz="1700" dirty="0">
                <a:solidFill>
                  <a:schemeClr val="tx1"/>
                </a:solidFill>
              </a:rPr>
              <a:t>, dan </a:t>
            </a:r>
            <a:r>
              <a:rPr lang="en-US" sz="1700" b="1" dirty="0">
                <a:solidFill>
                  <a:schemeClr val="tx1"/>
                </a:solidFill>
              </a:rPr>
              <a:t>rain gauge </a:t>
            </a:r>
            <a:r>
              <a:rPr lang="en-US" sz="1700" dirty="0">
                <a:solidFill>
                  <a:schemeClr val="tx1"/>
                </a:solidFill>
              </a:rPr>
              <a:t>pada pondasi terpisah.</a:t>
            </a:r>
            <a:endParaRPr lang="en-US" sz="17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Konfigurasi ini </a:t>
            </a:r>
            <a:r>
              <a:rPr lang="en-US" sz="1700" dirty="0" err="1">
                <a:solidFill>
                  <a:schemeClr val="tx1"/>
                </a:solidFill>
              </a:rPr>
              <a:t>mengukur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/>
              <a:t>dua</a:t>
            </a:r>
            <a:r>
              <a:rPr lang="en-US" sz="1700" dirty="0">
                <a:solidFill>
                  <a:schemeClr val="tx1"/>
                </a:solidFill>
              </a:rPr>
              <a:t> parameter sekaligus (</a:t>
            </a:r>
            <a:r>
              <a:rPr lang="en-US" sz="1700" b="1" dirty="0" err="1">
                <a:solidFill>
                  <a:schemeClr val="tx1"/>
                </a:solidFill>
              </a:rPr>
              <a:t>hujan</a:t>
            </a:r>
            <a:r>
              <a:rPr lang="en-US" sz="1700" b="1" dirty="0">
                <a:solidFill>
                  <a:schemeClr val="tx1"/>
                </a:solidFill>
              </a:rPr>
              <a:t> dan kelembapan tanah</a:t>
            </a:r>
            <a:r>
              <a:rPr lang="en-US" sz="1700" dirty="0">
                <a:solidFill>
                  <a:schemeClr val="tx1"/>
                </a:solidFill>
              </a:rPr>
              <a:t>) pada titik yang sama, sehingga respons tanah terhadap hujan dapat dianalisis secara simultan.</a:t>
            </a:r>
            <a:endParaRPr lang="en-US" sz="17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700" b="1" dirty="0" err="1">
                <a:solidFill>
                  <a:schemeClr val="tx1"/>
                </a:solidFill>
              </a:rPr>
              <a:t>Dimensi</a:t>
            </a:r>
            <a:r>
              <a:rPr lang="en-US" sz="1700" b="1" dirty="0">
                <a:solidFill>
                  <a:schemeClr val="tx1"/>
                </a:solidFill>
              </a:rPr>
              <a:t> dan </a:t>
            </a:r>
            <a:r>
              <a:rPr lang="en-US" sz="1700" b="1" dirty="0" err="1">
                <a:solidFill>
                  <a:schemeClr val="tx1"/>
                </a:solidFill>
              </a:rPr>
              <a:t>bentuk</a:t>
            </a:r>
            <a:r>
              <a:rPr lang="en-US" sz="1700" b="1" dirty="0">
                <a:solidFill>
                  <a:schemeClr val="tx1"/>
                </a:solidFill>
              </a:rPr>
              <a:t> </a:t>
            </a:r>
            <a:r>
              <a:rPr lang="en-US" sz="1700" b="1" dirty="0" err="1">
                <a:solidFill>
                  <a:schemeClr val="tx1"/>
                </a:solidFill>
              </a:rPr>
              <a:t>akhir</a:t>
            </a:r>
            <a:r>
              <a:rPr lang="en-US" sz="1700" b="1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sumur</a:t>
            </a:r>
            <a:r>
              <a:rPr lang="en-US" sz="1700" dirty="0">
                <a:solidFill>
                  <a:schemeClr val="tx1"/>
                </a:solidFill>
              </a:rPr>
              <a:t> di </a:t>
            </a:r>
            <a:r>
              <a:rPr lang="en-US" sz="1700" dirty="0" err="1">
                <a:solidFill>
                  <a:schemeClr val="tx1"/>
                </a:solidFill>
              </a:rPr>
              <a:t>lokasi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lapangan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perlu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disepakati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bersama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mitra</a:t>
            </a:r>
            <a:r>
              <a:rPr lang="en-US" sz="1700" dirty="0">
                <a:solidFill>
                  <a:schemeClr val="tx1"/>
                </a:solidFill>
              </a:rPr>
              <a:t>, </a:t>
            </a:r>
            <a:r>
              <a:rPr lang="en-US" sz="1700" dirty="0" err="1">
                <a:solidFill>
                  <a:schemeClr val="tx1"/>
                </a:solidFill>
              </a:rPr>
              <a:t>termasuk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kebutuhan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pekerjaan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sipil</a:t>
            </a:r>
            <a:r>
              <a:rPr lang="en-US" sz="1700" dirty="0">
                <a:solidFill>
                  <a:schemeClr val="tx1"/>
                </a:solidFill>
              </a:rPr>
              <a:t>, </a:t>
            </a:r>
            <a:r>
              <a:rPr lang="en-US" sz="1700" dirty="0" err="1">
                <a:solidFill>
                  <a:schemeClr val="tx1"/>
                </a:solidFill>
              </a:rPr>
              <a:t>mempertimbangkan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b="1" dirty="0">
                <a:solidFill>
                  <a:schemeClr val="tx1"/>
                </a:solidFill>
              </a:rPr>
              <a:t>saran </a:t>
            </a:r>
            <a:r>
              <a:rPr lang="en-US" sz="1700" b="1" dirty="0" err="1">
                <a:solidFill>
                  <a:schemeClr val="tx1"/>
                </a:solidFill>
              </a:rPr>
              <a:t>atau</a:t>
            </a:r>
            <a:r>
              <a:rPr lang="en-US" sz="1700" b="1" dirty="0">
                <a:solidFill>
                  <a:schemeClr val="tx1"/>
                </a:solidFill>
              </a:rPr>
              <a:t> </a:t>
            </a:r>
            <a:r>
              <a:rPr lang="en-US" sz="1700" b="1" dirty="0" err="1">
                <a:solidFill>
                  <a:schemeClr val="tx1"/>
                </a:solidFill>
              </a:rPr>
              <a:t>masukan</a:t>
            </a:r>
            <a:r>
              <a:rPr lang="en-US" sz="1700" b="1" dirty="0">
                <a:solidFill>
                  <a:schemeClr val="tx1"/>
                </a:solidFill>
              </a:rPr>
              <a:t> </a:t>
            </a:r>
            <a:r>
              <a:rPr lang="en-US" sz="1700" b="1" dirty="0" err="1">
                <a:solidFill>
                  <a:schemeClr val="tx1"/>
                </a:solidFill>
              </a:rPr>
              <a:t>dari</a:t>
            </a:r>
            <a:r>
              <a:rPr lang="en-US" sz="1700" b="1" dirty="0">
                <a:solidFill>
                  <a:schemeClr val="tx1"/>
                </a:solidFill>
              </a:rPr>
              <a:t> </a:t>
            </a:r>
            <a:r>
              <a:rPr lang="en-US" sz="1700" b="1" dirty="0" err="1">
                <a:solidFill>
                  <a:schemeClr val="tx1"/>
                </a:solidFill>
              </a:rPr>
              <a:t>mitra</a:t>
            </a:r>
            <a:r>
              <a:rPr lang="en-US" sz="1700" b="1" dirty="0">
                <a:solidFill>
                  <a:schemeClr val="tx1"/>
                </a:solidFill>
              </a:rPr>
              <a:t> </a:t>
            </a:r>
            <a:r>
              <a:rPr lang="en-US" sz="1700" b="1" dirty="0" err="1">
                <a:solidFill>
                  <a:schemeClr val="tx1"/>
                </a:solidFill>
              </a:rPr>
              <a:t>untuk</a:t>
            </a:r>
            <a:r>
              <a:rPr lang="en-US" sz="1700" b="1" dirty="0">
                <a:solidFill>
                  <a:schemeClr val="tx1"/>
                </a:solidFill>
              </a:rPr>
              <a:t> </a:t>
            </a:r>
            <a:r>
              <a:rPr lang="en-US" sz="1700" b="1" dirty="0" err="1">
                <a:solidFill>
                  <a:schemeClr val="tx1"/>
                </a:solidFill>
              </a:rPr>
              <a:t>bentuk</a:t>
            </a:r>
            <a:r>
              <a:rPr lang="en-US" sz="1700" b="1" dirty="0">
                <a:solidFill>
                  <a:schemeClr val="tx1"/>
                </a:solidFill>
              </a:rPr>
              <a:t> dan tata </a:t>
            </a:r>
            <a:r>
              <a:rPr lang="en-US" sz="1700" b="1" dirty="0" err="1">
                <a:solidFill>
                  <a:schemeClr val="tx1"/>
                </a:solidFill>
              </a:rPr>
              <a:t>letaknya</a:t>
            </a:r>
            <a:r>
              <a:rPr lang="en-US" sz="1700" b="1" dirty="0">
                <a:solidFill>
                  <a:schemeClr val="tx1"/>
                </a:solidFill>
              </a:rPr>
              <a:t>.</a:t>
            </a:r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700" b="1" dirty="0" err="1"/>
              <a:t>Catatan</a:t>
            </a:r>
            <a:r>
              <a:rPr lang="en-US" sz="1700" b="1" dirty="0"/>
              <a:t>: Sensor </a:t>
            </a:r>
            <a:r>
              <a:rPr lang="en-US" sz="1700" b="1" dirty="0" err="1"/>
              <a:t>ultrasonik</a:t>
            </a:r>
            <a:r>
              <a:rPr lang="en-US" sz="1700" b="1" dirty="0"/>
              <a:t> </a:t>
            </a:r>
            <a:r>
              <a:rPr lang="en-US" sz="1700" b="1" dirty="0" err="1"/>
              <a:t>tidak</a:t>
            </a:r>
            <a:r>
              <a:rPr lang="en-US" sz="1700" b="1" dirty="0"/>
              <a:t> </a:t>
            </a:r>
            <a:r>
              <a:rPr lang="en-US" sz="1700" b="1" dirty="0" err="1"/>
              <a:t>jadi</a:t>
            </a:r>
            <a:r>
              <a:rPr lang="en-US" sz="1700" b="1" dirty="0"/>
              <a:t> </a:t>
            </a:r>
            <a:r>
              <a:rPr lang="en-US" sz="1700" b="1" dirty="0" err="1"/>
              <a:t>untuk</a:t>
            </a:r>
            <a:r>
              <a:rPr lang="en-US" sz="1700" b="1" dirty="0"/>
              <a:t> </a:t>
            </a:r>
            <a:r>
              <a:rPr lang="en-US" sz="1700" b="1" dirty="0" err="1"/>
              <a:t>dipakai</a:t>
            </a:r>
            <a:endParaRPr lang="en-US" sz="17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</a:t>
            </a:r>
            <a:r>
              <a:rPr lang="en-US" dirty="0" err="1"/>
              <a:t>S</a:t>
            </a:r>
            <a:r>
              <a:rPr lang="en-US" sz="2800" b="1" dirty="0" err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istem</a:t>
            </a: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dan Alur </a:t>
            </a:r>
            <a:r>
              <a:rPr lang="en-US" dirty="0"/>
              <a:t>D</a:t>
            </a: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</a:t>
            </a:r>
            <a:endParaRPr lang="en-US" sz="2800" dirty="0"/>
          </a:p>
        </p:txBody>
      </p:sp>
      <p:pic>
        <p:nvPicPr>
          <p:cNvPr id="3" name="gambar-blok-diagram" descr="blo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7315200" cy="36852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782519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tx1"/>
                </a:solidFill>
              </a:rPr>
              <a:t>Gambar 2. Blok diagram: akuisisi data lapangan (ESP32 sebagai publisher) → broker MQTT → Node-RED subscriber → dashboard &amp; logger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114850"/>
              </p:ext>
            </p:extLst>
          </p:nvPr>
        </p:nvGraphicFramePr>
        <p:xfrm>
          <a:off x="467360" y="4942539"/>
          <a:ext cx="7315200" cy="1524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Lapisan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Kondisi TKT 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TKT 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Akuisisi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+ 3 jenis sensor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lapangan tahan cuaca (IP65)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Transmisi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jaringan kampus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4G LTE + buffer microSD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Node-RED lokal ITB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VPS cloud publik + basis data time-series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Pengguna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jaringan kampus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publik, alert,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panel-deskripsi"/>
          <p:cNvSpPr/>
          <p:nvPr/>
        </p:nvSpPr>
        <p:spPr>
          <a:xfrm>
            <a:off x="8001000" y="1051560"/>
            <a:ext cx="3703320" cy="521208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ks-deskripsi"/>
          <p:cNvSpPr txBox="1"/>
          <p:nvPr/>
        </p:nvSpPr>
        <p:spPr>
          <a:xfrm>
            <a:off x="8138160" y="1143000"/>
            <a:ext cx="3429000" cy="502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Data sensor dikirim periodik oleh </a:t>
            </a:r>
            <a:r>
              <a:rPr lang="en-US" sz="1700" b="1" dirty="0">
                <a:solidFill>
                  <a:schemeClr val="tx1"/>
                </a:solidFill>
              </a:rPr>
              <a:t>ESP32</a:t>
            </a:r>
            <a:r>
              <a:rPr lang="en-US" sz="1700" dirty="0">
                <a:solidFill>
                  <a:schemeClr val="tx1"/>
                </a:solidFill>
              </a:rPr>
              <a:t> melalui protokol </a:t>
            </a:r>
            <a:r>
              <a:rPr lang="en-US" sz="1700" b="1" dirty="0">
                <a:solidFill>
                  <a:schemeClr val="tx1"/>
                </a:solidFill>
              </a:rPr>
              <a:t>MQTT</a:t>
            </a:r>
            <a:r>
              <a:rPr lang="en-US" sz="1700" dirty="0">
                <a:solidFill>
                  <a:schemeClr val="tx1"/>
                </a:solidFill>
              </a:rPr>
              <a:t> (broker EMQX). </a:t>
            </a:r>
            <a:r>
              <a:rPr lang="en-US" sz="1700" b="1" dirty="0">
                <a:solidFill>
                  <a:schemeClr val="tx1"/>
                </a:solidFill>
              </a:rPr>
              <a:t>Node-RED </a:t>
            </a:r>
            <a:r>
              <a:rPr lang="en-US" sz="1700" dirty="0">
                <a:solidFill>
                  <a:schemeClr val="tx1"/>
                </a:solidFill>
              </a:rPr>
              <a:t>menerima data, menampilkannya di </a:t>
            </a:r>
            <a:r>
              <a:rPr lang="en-US" sz="1700" b="1" dirty="0">
                <a:solidFill>
                  <a:schemeClr val="tx1"/>
                </a:solidFill>
              </a:rPr>
              <a:t>dashboard</a:t>
            </a:r>
            <a:r>
              <a:rPr lang="en-US" sz="1700" dirty="0">
                <a:solidFill>
                  <a:schemeClr val="tx1"/>
                </a:solidFill>
              </a:rPr>
              <a:t>, dan menyimpan histori pengukuran.</a:t>
            </a:r>
            <a:endParaRPr lang="en-US" sz="17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Perubahan terpenting menuju TKT 7 adalah perpindahan dari </a:t>
            </a:r>
            <a:r>
              <a:rPr lang="en-US" sz="1700" b="1" dirty="0">
                <a:solidFill>
                  <a:schemeClr val="tx1"/>
                </a:solidFill>
              </a:rPr>
              <a:t>jaringan kampus ke 4G LTE dan server cloud publik</a:t>
            </a:r>
            <a:r>
              <a:rPr lang="en-US" sz="1700" dirty="0">
                <a:solidFill>
                  <a:schemeClr val="tx1"/>
                </a:solidFill>
              </a:rPr>
              <a:t>. Di bagian ini dukungan mitra paling menentukan</a:t>
            </a:r>
            <a:r>
              <a:rPr lang="en-US" sz="1700" b="1" dirty="0">
                <a:solidFill>
                  <a:schemeClr val="tx1"/>
                </a:solidFill>
              </a:rPr>
              <a:t>: VPS, domain/SSL, programmer, dan uji performa transmisi 30 hari.</a:t>
            </a:r>
            <a:endParaRPr lang="en-US" sz="1700" b="1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700" dirty="0" err="1">
                <a:solidFill>
                  <a:schemeClr val="tx1"/>
                </a:solidFill>
              </a:rPr>
              <a:t>Terkait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b="1" dirty="0" err="1">
                <a:solidFill>
                  <a:schemeClr val="tx1"/>
                </a:solidFill>
              </a:rPr>
              <a:t>kepemilikan</a:t>
            </a:r>
            <a:r>
              <a:rPr lang="en-US" sz="1700" b="1" dirty="0">
                <a:solidFill>
                  <a:schemeClr val="tx1"/>
                </a:solidFill>
              </a:rPr>
              <a:t> server dan data</a:t>
            </a:r>
            <a:r>
              <a:rPr lang="en-US" sz="1700" dirty="0">
                <a:solidFill>
                  <a:schemeClr val="tx1"/>
                </a:solidFill>
              </a:rPr>
              <a:t>. VPS dan domain </a:t>
            </a:r>
            <a:r>
              <a:rPr lang="en-US" sz="1700" b="1" dirty="0">
                <a:solidFill>
                  <a:schemeClr val="tx1"/>
                </a:solidFill>
              </a:rPr>
              <a:t>tercatat sebagai platform </a:t>
            </a:r>
            <a:r>
              <a:rPr lang="en-US" sz="1700" b="1" dirty="0" err="1">
                <a:solidFill>
                  <a:schemeClr val="tx1"/>
                </a:solidFill>
              </a:rPr>
              <a:t>milik</a:t>
            </a:r>
            <a:r>
              <a:rPr lang="en-US" sz="1700" b="1" dirty="0">
                <a:solidFill>
                  <a:schemeClr val="tx1"/>
                </a:solidFill>
              </a:rPr>
              <a:t> </a:t>
            </a:r>
            <a:r>
              <a:rPr lang="en-US" sz="1700" b="1" dirty="0" err="1">
                <a:solidFill>
                  <a:schemeClr val="tx1"/>
                </a:solidFill>
              </a:rPr>
              <a:t>mitra</a:t>
            </a:r>
            <a:r>
              <a:rPr lang="en-US" sz="1700" b="1" dirty="0">
                <a:solidFill>
                  <a:schemeClr val="tx1"/>
                </a:solidFill>
              </a:rPr>
              <a:t> </a:t>
            </a:r>
            <a:r>
              <a:rPr lang="en-US" sz="1700" b="1" dirty="0" err="1">
                <a:solidFill>
                  <a:schemeClr val="tx1"/>
                </a:solidFill>
              </a:rPr>
              <a:t>atau</a:t>
            </a:r>
            <a:r>
              <a:rPr lang="en-US" sz="1700" b="1" dirty="0">
                <a:solidFill>
                  <a:schemeClr val="tx1"/>
                </a:solidFill>
              </a:rPr>
              <a:t> </a:t>
            </a:r>
            <a:r>
              <a:rPr lang="en-US" sz="1700" b="1" dirty="0" err="1">
                <a:solidFill>
                  <a:schemeClr val="tx1"/>
                </a:solidFill>
              </a:rPr>
              <a:t>itb</a:t>
            </a:r>
            <a:r>
              <a:rPr lang="en-US" sz="1700" dirty="0">
                <a:solidFill>
                  <a:schemeClr val="tx1"/>
                </a:solidFill>
              </a:rPr>
              <a:t>, sehingga hak akses dan hak pakai data riset perlu dituangkan dalam </a:t>
            </a:r>
            <a:r>
              <a:rPr lang="en-US" sz="1700" b="1" dirty="0">
                <a:solidFill>
                  <a:schemeClr val="tx1"/>
                </a:solidFill>
              </a:rPr>
              <a:t>MoU.</a:t>
            </a:r>
            <a:endParaRPr lang="en-US" sz="17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Spesifikasi komponen per unit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555155"/>
              </p:ext>
            </p:extLst>
          </p:nvPr>
        </p:nvGraphicFramePr>
        <p:xfrm>
          <a:off x="457200" y="1051560"/>
          <a:ext cx="11328401" cy="2682240"/>
        </p:xfrm>
        <a:graphic>
          <a:graphicData uri="http://schemas.openxmlformats.org/drawingml/2006/table">
            <a:tbl>
              <a:tblPr/>
              <a:tblGrid>
                <a:gridCol w="3020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5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Komponen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Spesifikasi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dalam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RAB)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Mikrokontroler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WROOM-32 Dev Board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unit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 gauge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HOBO RG3 (0,01″) with Pendant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unit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Kelembapan tanah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Kapasitif waterproof, kedalaman 0,5 m dan 1,0 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+ 3 unit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Komunikasi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Modem 4G LTE (TP-Link MR100 atau setara) + SIM data, antena eksternal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unit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Catu daya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surya 10 W/12 V, baterai LiPo 12 V 10.000 mAh + BMS, MPPT 10 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Penyimpanan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MicroSD 32 GB + modul SPI (buffer data)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unit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Enclosure &amp; struktur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panel IP65 30×40×20 cm; bracket tiang baja galvanis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" name="gambar-skematik" descr="skemati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20" y="3974542"/>
            <a:ext cx="5519923" cy="183189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87680" y="5887162"/>
            <a:ext cx="5039359" cy="41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tx1"/>
                </a:solidFill>
              </a:rPr>
              <a:t>Gambar 3. Skematik control unit: sensor tanah dan ultrasonik terhubung ke ESP32-WROOM</a:t>
            </a:r>
            <a:endParaRPr lang="en-US" sz="1200" dirty="0"/>
          </a:p>
        </p:txBody>
      </p:sp>
      <p:sp>
        <p:nvSpPr>
          <p:cNvPr id="6" name="panel-deskripsi"/>
          <p:cNvSpPr/>
          <p:nvPr/>
        </p:nvSpPr>
        <p:spPr>
          <a:xfrm>
            <a:off x="6184397" y="3825240"/>
            <a:ext cx="5519923" cy="262128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ks-deskripsi"/>
          <p:cNvSpPr txBox="1"/>
          <p:nvPr/>
        </p:nvSpPr>
        <p:spPr>
          <a:xfrm>
            <a:off x="6289040" y="3974542"/>
            <a:ext cx="5415280" cy="2096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Spesifikasi</a:t>
            </a:r>
            <a:r>
              <a:rPr lang="en-US" dirty="0">
                <a:solidFill>
                  <a:schemeClr val="tx1"/>
                </a:solidFill>
              </a:rPr>
              <a:t> diambil dari RAB </a:t>
            </a:r>
            <a:r>
              <a:rPr lang="en-US" dirty="0" err="1">
                <a:solidFill>
                  <a:schemeClr val="tx1"/>
                </a:solidFill>
              </a:rPr>
              <a:t>komponen</a:t>
            </a:r>
            <a:r>
              <a:rPr lang="en-US" dirty="0">
                <a:solidFill>
                  <a:schemeClr val="tx1"/>
                </a:solidFill>
              </a:rPr>
              <a:t>, dengan basis 3 unit lapangan.</a:t>
            </a:r>
            <a:endParaRPr lang="en-US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Mitra menyediakan hardware industri (data logger, ultrasonik, rain gauge standar, modul komunikasi) dan integrasi. Daftar perangkatnya perlu dirinci agar tidak tumpang tindih dengan pembelian hibah.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Pembuatan alat dan keamanan lokasi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1"/>
                </a:solidFill>
              </a:rPr>
              <a:t>Pembagian pekerjaan produksi serta standar pengamanan instalasi lapangan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</a:t>
            </a:r>
            <a:r>
              <a:rPr lang="en-US" dirty="0" err="1"/>
              <a:t>P</a:t>
            </a:r>
            <a:r>
              <a:rPr lang="en-US" sz="2800" b="1" dirty="0" err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embuatan</a:t>
            </a: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dan </a:t>
            </a:r>
            <a:r>
              <a:rPr lang="en-US" sz="2800" b="1" dirty="0" err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Pembagian</a:t>
            </a: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dirty="0" err="1"/>
              <a:t>P</a:t>
            </a:r>
            <a:r>
              <a:rPr lang="en-US" sz="2800" b="1" dirty="0" err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ekerjaan</a:t>
            </a: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dirty="0" err="1"/>
              <a:t>P</a:t>
            </a:r>
            <a:r>
              <a:rPr lang="en-US" sz="2800" b="1" dirty="0" err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roduksi</a:t>
            </a:r>
            <a:endParaRPr lang="en-US" sz="2800" dirty="0"/>
          </a:p>
        </p:txBody>
      </p:sp>
      <p:pic>
        <p:nvPicPr>
          <p:cNvPr id="3" name="gambar-proses" descr="pros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6309360" cy="27880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71031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tx1"/>
                </a:solidFill>
              </a:rPr>
              <a:t>Gambar 4. Tahapan pembuatan prototipe TKT 6: penggalian, sumur infiltrasi, area uji, perakitan panel, kalibrasi, instalasi akhir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423302"/>
              </p:ext>
            </p:extLst>
          </p:nvPr>
        </p:nvGraphicFramePr>
        <p:xfrm>
          <a:off x="487680" y="4090202"/>
          <a:ext cx="6309360" cy="24688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Pekerjaan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Pelaksana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 (Rp)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Fabrikasi PCB custom (routing, etching, SMD)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(Saran </a:t>
                      </a:r>
                      <a:r>
                        <a:rPr lang="en-US" sz="1200" dirty="0" err="1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dari</a:t>
                      </a: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Mitra)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Perakitan &amp; integrasi sistem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(Saran </a:t>
                      </a:r>
                      <a:r>
                        <a:rPr lang="en-US" sz="1200" dirty="0" err="1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dari</a:t>
                      </a: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Mitra)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Fabrikasi logam (tiang, bracket, las)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(Saran </a:t>
                      </a:r>
                      <a:r>
                        <a:rPr lang="en-US" sz="1200" dirty="0" err="1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dari</a:t>
                      </a: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Mitra)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Pemrograman firmware ESP32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MANVIS (natura)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Burning test 48 jam per 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MANVIS (natura)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Kalibrasi sensor lab terakreditasi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eksternal (hibah)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paket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panel-deskripsi"/>
          <p:cNvSpPr/>
          <p:nvPr/>
        </p:nvSpPr>
        <p:spPr>
          <a:xfrm>
            <a:off x="6995160" y="1051560"/>
            <a:ext cx="4709160" cy="5394960"/>
          </a:xfrm>
          <a:prstGeom prst="roundRect">
            <a:avLst>
              <a:gd name="adj" fmla="val 155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ks-deskripsi"/>
          <p:cNvSpPr txBox="1"/>
          <p:nvPr/>
        </p:nvSpPr>
        <p:spPr>
          <a:xfrm>
            <a:off x="7132320" y="1143000"/>
            <a:ext cx="4434840" cy="502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Produksi</a:t>
            </a:r>
            <a:r>
              <a:rPr lang="en-US" sz="1600" dirty="0">
                <a:solidFill>
                  <a:schemeClr val="tx1"/>
                </a:solidFill>
              </a:rPr>
              <a:t> skala </a:t>
            </a:r>
            <a:r>
              <a:rPr lang="en-US" sz="1600" dirty="0" err="1">
                <a:solidFill>
                  <a:schemeClr val="tx1"/>
                </a:solidFill>
              </a:rPr>
              <a:t>terbatas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untuk</a:t>
            </a:r>
            <a:r>
              <a:rPr lang="en-US" sz="1600" dirty="0">
                <a:solidFill>
                  <a:schemeClr val="tx1"/>
                </a:solidFill>
              </a:rPr>
              <a:t> fabrikasi PCB, perakitan, dan fabrikasi logam, dengan volume 10 unit. Mitra mengerjakan </a:t>
            </a:r>
            <a:r>
              <a:rPr lang="en-US" sz="1600" b="1" dirty="0">
                <a:solidFill>
                  <a:schemeClr val="tx1"/>
                </a:solidFill>
              </a:rPr>
              <a:t>firmware dan burning test </a:t>
            </a:r>
            <a:r>
              <a:rPr lang="en-US" sz="1600" dirty="0">
                <a:solidFill>
                  <a:schemeClr val="tx1"/>
                </a:solidFill>
              </a:rPr>
              <a:t>48 jam untuk </a:t>
            </a:r>
            <a:r>
              <a:rPr lang="en-US" sz="1600" dirty="0"/>
              <a:t>10 unit </a:t>
            </a:r>
            <a:r>
              <a:rPr lang="en-US" sz="1600" dirty="0">
                <a:solidFill>
                  <a:schemeClr val="tx1"/>
                </a:solidFill>
              </a:rPr>
              <a:t>sebelum alat dikirim ke lokasi.</a:t>
            </a:r>
            <a:endParaRPr lang="en-US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PCB, perakitan, fabrikasi logam, firmware, dan burning test untuk 10 unit (ESP32 juga 10 unit). </a:t>
            </a:r>
            <a:r>
              <a:rPr lang="en-US" sz="1600" b="1" dirty="0" err="1">
                <a:solidFill>
                  <a:schemeClr val="tx1"/>
                </a:solidFill>
              </a:rPr>
              <a:t>Catatan</a:t>
            </a:r>
            <a:r>
              <a:rPr lang="en-US" sz="1600" b="1" dirty="0">
                <a:solidFill>
                  <a:schemeClr val="tx1"/>
                </a:solidFill>
              </a:rPr>
              <a:t>: </a:t>
            </a:r>
            <a:r>
              <a:rPr lang="en-US" sz="1600" b="1" dirty="0" err="1">
                <a:solidFill>
                  <a:schemeClr val="tx1"/>
                </a:solidFill>
              </a:rPr>
              <a:t>Apakah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/>
              <a:t>10 unit </a:t>
            </a:r>
            <a:r>
              <a:rPr lang="en-US" sz="1600" b="1" dirty="0" err="1"/>
              <a:t>ini</a:t>
            </a:r>
            <a:r>
              <a:rPr lang="en-US" sz="1600" b="1" dirty="0"/>
              <a:t> </a:t>
            </a:r>
            <a:r>
              <a:rPr lang="en-US" sz="1600" b="1" dirty="0" err="1"/>
              <a:t>kebanyakan</a:t>
            </a:r>
            <a:r>
              <a:rPr lang="en-US" sz="1600" b="1" dirty="0"/>
              <a:t>? </a:t>
            </a:r>
            <a:r>
              <a:rPr lang="en-US" sz="1600" b="1" dirty="0" err="1"/>
              <a:t>untuk</a:t>
            </a:r>
            <a:r>
              <a:rPr lang="en-US" sz="1600" b="1" dirty="0"/>
              <a:t> 3 Lokasi </a:t>
            </a:r>
            <a:r>
              <a:rPr lang="en-US" sz="1600" b="1" dirty="0" err="1"/>
              <a:t>ini</a:t>
            </a:r>
            <a:r>
              <a:rPr lang="en-US" sz="1600" b="1" dirty="0"/>
              <a:t> </a:t>
            </a:r>
            <a:r>
              <a:rPr lang="en-US" sz="1600" b="1" dirty="0" err="1"/>
              <a:t>disarankan</a:t>
            </a:r>
            <a:r>
              <a:rPr lang="en-US" sz="1600" b="1" dirty="0"/>
              <a:t> </a:t>
            </a:r>
            <a:r>
              <a:rPr lang="en-US" sz="1600" b="1" dirty="0" err="1"/>
              <a:t>berapa</a:t>
            </a:r>
            <a:r>
              <a:rPr lang="en-US" sz="1600" b="1" dirty="0"/>
              <a:t> unit</a:t>
            </a:r>
            <a:r>
              <a:rPr lang="en-US" sz="1600" dirty="0"/>
              <a:t>?</a:t>
            </a:r>
            <a:endParaRPr lang="en-US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Keputusan yang </a:t>
            </a:r>
            <a:r>
              <a:rPr lang="en-US" sz="1600" dirty="0" err="1">
                <a:solidFill>
                  <a:schemeClr val="tx1"/>
                </a:solidFill>
              </a:rPr>
              <a:t>diperlukan</a:t>
            </a:r>
            <a:r>
              <a:rPr lang="en-US" sz="1600" dirty="0"/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jumlah</a:t>
            </a:r>
            <a:r>
              <a:rPr lang="en-US" sz="1600" b="1" dirty="0">
                <a:solidFill>
                  <a:schemeClr val="tx1"/>
                </a:solidFill>
              </a:rPr>
              <a:t> unit yang benar-benar dirakit lengkap</a:t>
            </a:r>
            <a:r>
              <a:rPr lang="en-US" sz="1600" dirty="0">
                <a:solidFill>
                  <a:schemeClr val="tx1"/>
                </a:solidFill>
              </a:rPr>
              <a:t> (3 unit lapangan atau lebih sebagai cadangan/demo), siapa vendor fabrikasi, serta alur serah terima unit dari vendor → mitra (firmware + burning test) → tim ITB (instalasi).</a:t>
            </a:r>
            <a:endParaRPr lang="en-US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Ketentuan</a:t>
            </a:r>
            <a:r>
              <a:rPr lang="en-US" sz="1600" dirty="0">
                <a:solidFill>
                  <a:schemeClr val="tx1"/>
                </a:solidFill>
              </a:rPr>
              <a:t> RAB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tx1"/>
                </a:solidFill>
              </a:rPr>
              <a:t>vendor </a:t>
            </a:r>
            <a:r>
              <a:rPr lang="en-US" sz="1600" dirty="0" err="1">
                <a:solidFill>
                  <a:schemeClr val="tx1"/>
                </a:solidFill>
              </a:rPr>
              <a:t>fabrikasi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harus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pihak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ketiga</a:t>
            </a:r>
            <a:r>
              <a:rPr lang="en-US" sz="1600" dirty="0">
                <a:solidFill>
                  <a:schemeClr val="tx1"/>
                </a:solidFill>
              </a:rPr>
              <a:t> di </a:t>
            </a:r>
            <a:r>
              <a:rPr lang="en-US" sz="1600" dirty="0" err="1">
                <a:solidFill>
                  <a:schemeClr val="tx1"/>
                </a:solidFill>
              </a:rPr>
              <a:t>luar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kepakaran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tim</a:t>
            </a:r>
            <a:r>
              <a:rPr lang="en-US" sz="1600" dirty="0">
                <a:solidFill>
                  <a:schemeClr val="tx1"/>
                </a:solidFill>
              </a:rPr>
              <a:t> dan </a:t>
            </a:r>
            <a:r>
              <a:rPr lang="en-US" sz="1600" dirty="0" err="1">
                <a:solidFill>
                  <a:schemeClr val="tx1"/>
                </a:solidFill>
              </a:rPr>
              <a:t>mitra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dengan</a:t>
            </a:r>
            <a:r>
              <a:rPr lang="en-US" sz="1600" dirty="0">
                <a:solidFill>
                  <a:schemeClr val="tx1"/>
                </a:solidFill>
              </a:rPr>
              <a:t> quotation, </a:t>
            </a:r>
            <a:r>
              <a:rPr lang="en-US" sz="1600" dirty="0" err="1">
                <a:solidFill>
                  <a:schemeClr val="tx1"/>
                </a:solidFill>
              </a:rPr>
              <a:t>spesifikasi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teknis</a:t>
            </a:r>
            <a:r>
              <a:rPr lang="en-US" sz="1600" dirty="0">
                <a:solidFill>
                  <a:schemeClr val="tx1"/>
                </a:solidFill>
              </a:rPr>
              <a:t>, dan </a:t>
            </a:r>
            <a:r>
              <a:rPr lang="en-US" sz="1600" dirty="0" err="1">
                <a:solidFill>
                  <a:schemeClr val="tx1"/>
                </a:solidFill>
              </a:rPr>
              <a:t>kontrak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kerja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600" b="1" dirty="0" err="1"/>
              <a:t>Untuk</a:t>
            </a:r>
            <a:r>
              <a:rPr lang="en-US" sz="1600" b="1" dirty="0"/>
              <a:t> Harga </a:t>
            </a:r>
            <a:r>
              <a:rPr lang="en-US" sz="1600" b="1" dirty="0" err="1"/>
              <a:t>ini</a:t>
            </a:r>
            <a:r>
              <a:rPr lang="en-US" sz="1600" b="1" dirty="0"/>
              <a:t> </a:t>
            </a:r>
            <a:r>
              <a:rPr lang="en-US" sz="1600" b="1" dirty="0" err="1"/>
              <a:t>perlu</a:t>
            </a:r>
            <a:r>
              <a:rPr lang="en-US" sz="1600" b="1" dirty="0"/>
              <a:t> </a:t>
            </a:r>
            <a:r>
              <a:rPr lang="en-US" sz="1600" b="1" dirty="0" err="1"/>
              <a:t>dipastikan</a:t>
            </a:r>
            <a:r>
              <a:rPr lang="en-US" sz="1600" b="1" dirty="0"/>
              <a:t> yang Mitra </a:t>
            </a:r>
            <a:r>
              <a:rPr lang="en-US" sz="1600" b="1" dirty="0" err="1"/>
              <a:t>terlebih</a:t>
            </a:r>
            <a:r>
              <a:rPr lang="en-US" sz="1600" b="1" dirty="0"/>
              <a:t> </a:t>
            </a:r>
            <a:r>
              <a:rPr lang="en-US" sz="1600" b="1" dirty="0" err="1"/>
              <a:t>dahulu</a:t>
            </a:r>
            <a:r>
              <a:rPr lang="en-US" sz="1600" b="1" dirty="0"/>
              <a:t>.</a:t>
            </a:r>
            <a:endParaRPr 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Keamanan alat dan instalasi lapangan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837727"/>
              </p:ext>
            </p:extLst>
          </p:nvPr>
        </p:nvGraphicFramePr>
        <p:xfrm>
          <a:off x="457200" y="1051560"/>
          <a:ext cx="6705600" cy="1737360"/>
        </p:xfrm>
        <a:graphic>
          <a:graphicData uri="http://schemas.openxmlformats.org/drawingml/2006/table">
            <a:tbl>
              <a:tblPr/>
              <a:tblGrid>
                <a:gridCol w="5056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8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pengamanan (3 lokasi)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 (Rp)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Perangkat pengaman lokasi: CCTV, kunci/gembok, pagar pelindung panel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10.500.000</a:t>
                      </a:r>
                      <a:endParaRPr lang="en-US" sz="14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 penangkal petir: air terminal, down conductor, grounding rod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7.500.000</a:t>
                      </a:r>
                      <a:endParaRPr lang="en-US" sz="14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Instalasi &amp; uji tahanan grounding + surge arrester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2.000.000</a:t>
                      </a:r>
                      <a:endParaRPr lang="en-US" sz="14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kontribusi pengamanan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20.000.000</a:t>
                      </a:r>
                      <a:endParaRPr lang="en-US" sz="14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699794"/>
              </p:ext>
            </p:extLst>
          </p:nvPr>
        </p:nvGraphicFramePr>
        <p:xfrm>
          <a:off x="472440" y="2987040"/>
          <a:ext cx="6675120" cy="2377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Risiko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Dampak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Pengendalian yang diusulkan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Pencurian/vandalisme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hilang, data terputus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Pagar &amp; gembok panel, CCTV, koordinasi pengelola lahan/warga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Sambaran petir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Kerusakan ESP32, modem, sensor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Penangkal petir, grounding terukur, surge arrester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&amp; kelembapan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Korosi, hubung singkat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IP65, cable gland, sealant, pemeriksaan berkala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Daya &amp; sinyal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hilang saat hujan panjang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Baterai 10.000 mAh, buffer microSD, survei sinyal 4G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foto-panel" descr="pan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160" y="1078992"/>
            <a:ext cx="2011680" cy="218186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7376160" y="328829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tx1"/>
                </a:solidFill>
              </a:rPr>
              <a:t>Gambar 5. Panel kontrol &amp; antena di lokasi uji</a:t>
            </a:r>
            <a:endParaRPr lang="en-US" sz="1000" dirty="0"/>
          </a:p>
        </p:txBody>
      </p:sp>
      <p:sp>
        <p:nvSpPr>
          <p:cNvPr id="7" name="panel-deskripsi"/>
          <p:cNvSpPr/>
          <p:nvPr/>
        </p:nvSpPr>
        <p:spPr>
          <a:xfrm>
            <a:off x="9509760" y="1051560"/>
            <a:ext cx="2194560" cy="2401054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ks-deskripsi"/>
          <p:cNvSpPr txBox="1"/>
          <p:nvPr/>
        </p:nvSpPr>
        <p:spPr>
          <a:xfrm>
            <a:off x="9646920" y="1143000"/>
            <a:ext cx="1920240" cy="1508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Catatan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Lokasi lapangan bersifat terbuka. Keamanan alat menentukan apakah monitoring kontinu dapat </a:t>
            </a:r>
            <a:r>
              <a:rPr lang="en-US" sz="1400" dirty="0" err="1">
                <a:solidFill>
                  <a:schemeClr val="tx1"/>
                </a:solidFill>
              </a:rPr>
              <a:t>dicapai</a:t>
            </a:r>
            <a:r>
              <a:rPr lang="en-US" sz="1200" dirty="0">
                <a:solidFill>
                  <a:schemeClr val="tx1"/>
                </a:solidFill>
              </a:rPr>
              <a:t>. </a:t>
            </a:r>
            <a:r>
              <a:rPr lang="en-US" sz="1400" dirty="0" err="1"/>
              <a:t>Tambahan</a:t>
            </a:r>
            <a:r>
              <a:rPr lang="en-US" sz="1400" dirty="0"/>
              <a:t> </a:t>
            </a:r>
            <a:r>
              <a:rPr lang="en-US" sz="1400" dirty="0" err="1"/>
              <a:t>sebaiknya</a:t>
            </a:r>
            <a:r>
              <a:rPr lang="en-US" sz="1400" dirty="0"/>
              <a:t> </a:t>
            </a:r>
            <a:r>
              <a:rPr lang="en-US" sz="1400" dirty="0" err="1"/>
              <a:t>dipasangkan</a:t>
            </a:r>
            <a:r>
              <a:rPr lang="en-US" sz="1400" dirty="0"/>
              <a:t> </a:t>
            </a:r>
            <a:r>
              <a:rPr lang="en-US" sz="1400" dirty="0" err="1"/>
              <a:t>krangkeng</a:t>
            </a:r>
            <a:r>
              <a:rPr lang="en-US" sz="1400" dirty="0"/>
              <a:t> di </a:t>
            </a:r>
            <a:r>
              <a:rPr lang="en-US" sz="1400" dirty="0" err="1"/>
              <a:t>kontrol</a:t>
            </a:r>
            <a:r>
              <a:rPr lang="en-US" sz="1400" dirty="0"/>
              <a:t> </a:t>
            </a:r>
            <a:r>
              <a:rPr lang="en-US" sz="1400" dirty="0" err="1"/>
              <a:t>panelnya</a:t>
            </a:r>
            <a:r>
              <a:rPr lang="en-US" sz="1400" dirty="0"/>
              <a:t>. </a:t>
            </a:r>
            <a:r>
              <a:rPr lang="en-US" sz="1400" b="1" dirty="0"/>
              <a:t>Harga </a:t>
            </a:r>
            <a:r>
              <a:rPr lang="en-US" sz="1400" b="1" dirty="0" err="1"/>
              <a:t>belum</a:t>
            </a:r>
            <a:r>
              <a:rPr lang="en-US" sz="1400" b="1" dirty="0"/>
              <a:t> </a:t>
            </a:r>
            <a:r>
              <a:rPr lang="en-US" sz="1400" b="1" dirty="0" err="1"/>
              <a:t>dipastikan</a:t>
            </a:r>
            <a:r>
              <a:rPr lang="en-US" sz="1400" b="1" dirty="0"/>
              <a:t>.</a:t>
            </a:r>
          </a:p>
        </p:txBody>
      </p:sp>
      <p:sp>
        <p:nvSpPr>
          <p:cNvPr id="9" name="panel-deskripsi"/>
          <p:cNvSpPr/>
          <p:nvPr/>
        </p:nvSpPr>
        <p:spPr>
          <a:xfrm>
            <a:off x="487680" y="5562600"/>
            <a:ext cx="6675120" cy="787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ks-deskripsi"/>
          <p:cNvSpPr txBox="1"/>
          <p:nvPr/>
        </p:nvSpPr>
        <p:spPr>
          <a:xfrm>
            <a:off x="563880" y="5623560"/>
            <a:ext cx="64617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Spesifikasi</a:t>
            </a:r>
            <a:r>
              <a:rPr lang="en-US" sz="1600" dirty="0">
                <a:solidFill>
                  <a:schemeClr val="tx1"/>
                </a:solidFill>
              </a:rPr>
              <a:t> CCTV (perekaman lokal atau daring), standar tahanan grounding, dan siapa pemelihara </a:t>
            </a:r>
            <a:r>
              <a:rPr lang="en-US" sz="1600" dirty="0" err="1">
                <a:solidFill>
                  <a:schemeClr val="tx1"/>
                </a:solidFill>
              </a:rPr>
              <a:t>pengamanan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perlu</a:t>
            </a:r>
            <a:r>
              <a:rPr lang="en-US" sz="1600" dirty="0">
                <a:solidFill>
                  <a:schemeClr val="tx1"/>
                </a:solidFill>
              </a:rPr>
              <a:t> ditetapkan.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78AA28-00F1-CAC1-925B-5CBB9685D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160" y="3769360"/>
            <a:ext cx="4511040" cy="25374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E5A828D-138B-E6EF-D16D-C9A5FEB391F0}"/>
              </a:ext>
            </a:extLst>
          </p:cNvPr>
          <p:cNvSpPr txBox="1"/>
          <p:nvPr/>
        </p:nvSpPr>
        <p:spPr>
          <a:xfrm>
            <a:off x="7259320" y="6261854"/>
            <a:ext cx="6248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00" i="1" dirty="0"/>
              <a:t>Gambar 6. Panel </a:t>
            </a:r>
            <a:r>
              <a:rPr lang="en-US" sz="1000" i="1" dirty="0" err="1"/>
              <a:t>kontrol</a:t>
            </a:r>
            <a:r>
              <a:rPr lang="en-US" sz="1000" i="1" dirty="0"/>
              <a:t> &amp; </a:t>
            </a:r>
            <a:r>
              <a:rPr lang="en-US" sz="1000" i="1" dirty="0" err="1"/>
              <a:t>Krangkeng</a:t>
            </a:r>
            <a:r>
              <a:rPr lang="en-US" sz="1000" i="1" dirty="0"/>
              <a:t> Box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sz="2800" b="1" dirty="0" err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Keamanan</a:t>
            </a: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Alat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9EA160-4818-657A-2DFC-8866797E3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64" y="884218"/>
            <a:ext cx="5093546" cy="28651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9EF31E-656C-E379-D98D-CD6E846F5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746" y="884218"/>
            <a:ext cx="6352990" cy="47647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6B2530-80F9-C8BA-FDCB-BF73DCF2E8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738" t="17070" r="9095" b="32741"/>
          <a:stretch/>
        </p:blipFill>
        <p:spPr>
          <a:xfrm>
            <a:off x="288264" y="3803948"/>
            <a:ext cx="5093546" cy="25851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180C29B-DCB5-BD16-E0A8-B90B83A0717B}"/>
              </a:ext>
            </a:extLst>
          </p:cNvPr>
          <p:cNvSpPr txBox="1"/>
          <p:nvPr/>
        </p:nvSpPr>
        <p:spPr>
          <a:xfrm>
            <a:off x="5499946" y="57891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alat</a:t>
            </a:r>
            <a:r>
              <a:rPr lang="en-US" dirty="0"/>
              <a:t> yang </a:t>
            </a:r>
            <a:r>
              <a:rPr lang="en-US" dirty="0" err="1"/>
              <a:t>dipasang</a:t>
            </a:r>
            <a:r>
              <a:rPr lang="en-US" dirty="0"/>
              <a:t> di Ambon.</a:t>
            </a:r>
          </a:p>
        </p:txBody>
      </p:sp>
    </p:spTree>
    <p:extLst>
      <p:ext uri="{BB962C8B-B14F-4D97-AF65-F5344CB8AC3E}">
        <p14:creationId xmlns:p14="http://schemas.microsoft.com/office/powerpoint/2010/main" val="982792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Cloud: </a:t>
            </a:r>
            <a:r>
              <a:rPr lang="en-US" sz="2800" b="1" dirty="0" err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Kondisi</a:t>
            </a: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dirty="0" err="1"/>
              <a:t>S</a:t>
            </a:r>
            <a:r>
              <a:rPr lang="en-US" sz="2800" b="1" dirty="0" err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aat</a:t>
            </a: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</a:t>
            </a: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dan Target</a:t>
            </a:r>
            <a:endParaRPr lang="en-US" sz="2800" dirty="0"/>
          </a:p>
        </p:txBody>
      </p:sp>
      <p:pic>
        <p:nvPicPr>
          <p:cNvPr id="3" name="gambar-dashboard" descr="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0" y="1004936"/>
            <a:ext cx="6585118" cy="353658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75920" y="4676139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tx1"/>
                </a:solidFill>
              </a:rPr>
              <a:t>Gambar 6. Tampilan dashboard TKT 6 (Grafana/Node-RED): kedalaman air dan temperatur tanah, Juli 2026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522302"/>
              </p:ext>
            </p:extLst>
          </p:nvPr>
        </p:nvGraphicFramePr>
        <p:xfrm>
          <a:off x="6898640" y="1049021"/>
          <a:ext cx="4790440" cy="3474720"/>
        </p:xfrm>
        <a:graphic>
          <a:graphicData uri="http://schemas.openxmlformats.org/drawingml/2006/table">
            <a:tbl>
              <a:tblPr/>
              <a:tblGrid>
                <a:gridCol w="1064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0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 ini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TKT 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jaringan ITB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VPS cloud publik + domain/SSL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Belum time-series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TimescaleDB (data historis)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Notifikasi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Belum ada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ambang via WhatsApp/Telegram/email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Belum ada API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REST/MQTT untuk BMKG/BPBD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Tampilan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Responsif mobile &amp; desktop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panel-deskripsi"/>
          <p:cNvSpPr/>
          <p:nvPr/>
        </p:nvSpPr>
        <p:spPr>
          <a:xfrm>
            <a:off x="320040" y="5039359"/>
            <a:ext cx="11247120" cy="10718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7" name="teks-deskripsi"/>
          <p:cNvSpPr txBox="1"/>
          <p:nvPr/>
        </p:nvSpPr>
        <p:spPr>
          <a:xfrm>
            <a:off x="457200" y="5130799"/>
            <a:ext cx="10972800" cy="980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Mitra </a:t>
            </a:r>
            <a:r>
              <a:rPr lang="en-US" dirty="0" err="1">
                <a:solidFill>
                  <a:schemeClr val="tx1"/>
                </a:solidFill>
              </a:rPr>
              <a:t>membuat</a:t>
            </a:r>
            <a:r>
              <a:rPr lang="en-US" dirty="0">
                <a:solidFill>
                  <a:schemeClr val="tx1"/>
                </a:solidFill>
              </a:rPr>
              <a:t> seluruh komponen dashboard cloud: programmer IoT</a:t>
            </a:r>
            <a:r>
              <a:rPr lang="en-US" dirty="0"/>
              <a:t>, </a:t>
            </a:r>
            <a:r>
              <a:rPr lang="en-US" dirty="0">
                <a:solidFill>
                  <a:schemeClr val="tx1"/>
                </a:solidFill>
              </a:rPr>
              <a:t>VPS</a:t>
            </a:r>
            <a:r>
              <a:rPr lang="en-US" dirty="0"/>
              <a:t>, </a:t>
            </a:r>
            <a:r>
              <a:rPr lang="en-US" dirty="0" err="1">
                <a:solidFill>
                  <a:schemeClr val="tx1"/>
                </a:solidFill>
              </a:rPr>
              <a:t>serta</a:t>
            </a:r>
            <a:r>
              <a:rPr lang="en-US" dirty="0">
                <a:solidFill>
                  <a:schemeClr val="tx1"/>
                </a:solidFill>
              </a:rPr>
              <a:t> domain dan SSL. </a:t>
            </a:r>
            <a:endParaRPr lang="en-US" sz="2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Pekerjaan yang </a:t>
            </a:r>
            <a:r>
              <a:rPr lang="en-US" dirty="0" err="1">
                <a:solidFill>
                  <a:schemeClr val="tx1"/>
                </a:solidFill>
              </a:rPr>
              <a:t>direncanakan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harus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selesai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dalam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berapa</a:t>
            </a:r>
            <a:r>
              <a:rPr lang="en-US" dirty="0">
                <a:solidFill>
                  <a:srgbClr val="FF0000"/>
                </a:solidFill>
              </a:rPr>
              <a:t> minggu. </a:t>
            </a:r>
            <a:r>
              <a:rPr lang="en-US" dirty="0">
                <a:solidFill>
                  <a:schemeClr val="tx1"/>
                </a:solidFill>
              </a:rPr>
              <a:t>Perlu disepakati: programmer mulai penuh waktu kapan, fitur minimum yang wajib ada sebelum demonstrasi end-user, dan </a:t>
            </a:r>
            <a:r>
              <a:rPr lang="en-US" dirty="0" err="1">
                <a:solidFill>
                  <a:schemeClr val="tx1"/>
                </a:solidFill>
              </a:rPr>
              <a:t>fitur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Pembiayaan dari mitra PT MANVIS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1"/>
                </a:solidFill>
              </a:rPr>
              <a:t>Rincian kontribusi tunai dan natura sesuai RAB (PT MANVIS)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Rincian</a:t>
            </a: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Kontribusi</a:t>
            </a: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PT MANVIS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359853"/>
              </p:ext>
            </p:extLst>
          </p:nvPr>
        </p:nvGraphicFramePr>
        <p:xfrm>
          <a:off x="457200" y="1005840"/>
          <a:ext cx="11247120" cy="484632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Komponen pembiayaan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Peruntukan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Tunai (Rp)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 (Rp)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Perangkat keras industri (data logger, sensor ultrasonik, rain gauge standar, modul komunikasi)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Integrasi &amp; uji validasi TKT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paket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Dukungan operasional riset &amp; validasi lapangan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Pendampingan teknis, transport tim mitra, market testing awal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paket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Perangkat pengaman &amp; pelindung petir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CCTV, kunci/gembok, pagar panel; penangkal petir; grounding (3 lokasi)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paket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Sewa VPS cloud (Ubuntu 22.04, 4 vCPU, 8 GB RAM)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 basis data &amp;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bulan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+ sertifikat SSL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monitoring milik mitra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tahun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Jasa pengembangan dashboard cloud (programmer IoT)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Front-end, back-end, API, integrasi sensor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bulan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Insentif responden survei (voucher/token)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responden di 3 lokasi kajian pasar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resp.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Transkrip rekaman FGD + analisis tematik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Masukan business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paket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Cetak laporan market study &amp; business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Penggandaan laporan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eks.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 performa transmisi data (latency, packet loss, uptime)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Fasilitas &amp; tenaga uji mitra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hari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Pemrograman firmware ESP32 (konfigurasi, flashing, verifikasi)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 mitra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 fungsional awal (burning test 48 jam/unit)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Sebelum pengiriman ke lokasi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KONTRIBUSI MITRA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D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160.500.000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teks-deskripsi">
            <a:extLst>
              <a:ext uri="{FF2B5EF4-FFF2-40B4-BE49-F238E27FC236}">
                <a16:creationId xmlns:a16="http://schemas.microsoft.com/office/drawing/2014/main" id="{8465ECD0-3318-4E12-FDDC-EE41E6D45F8E}"/>
              </a:ext>
            </a:extLst>
          </p:cNvPr>
          <p:cNvSpPr txBox="1"/>
          <p:nvPr/>
        </p:nvSpPr>
        <p:spPr>
          <a:xfrm>
            <a:off x="274320" y="5956300"/>
            <a:ext cx="11430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2000" dirty="0" err="1"/>
              <a:t>Kesepakatannya</a:t>
            </a:r>
            <a:r>
              <a:rPr lang="en-US" sz="2000" dirty="0"/>
              <a:t> </a:t>
            </a:r>
            <a:r>
              <a:rPr lang="en-US" sz="2000" dirty="0" err="1"/>
              <a:t>tertulis</a:t>
            </a:r>
            <a:r>
              <a:rPr lang="en-US" sz="2000" dirty="0"/>
              <a:t> </a:t>
            </a:r>
            <a:r>
              <a:rPr lang="en-US" sz="2000" dirty="0" err="1"/>
              <a:t>melalui</a:t>
            </a:r>
            <a:r>
              <a:rPr lang="en-US" sz="2000" dirty="0"/>
              <a:t> </a:t>
            </a:r>
            <a:r>
              <a:rPr lang="en-US" sz="2000" dirty="0" err="1"/>
              <a:t>mitra</a:t>
            </a:r>
            <a:r>
              <a:rPr lang="en-US" sz="2000" dirty="0"/>
              <a:t>, </a:t>
            </a:r>
            <a:r>
              <a:rPr lang="en-US" sz="2000" dirty="0" err="1"/>
              <a:t>tetapi</a:t>
            </a:r>
            <a:r>
              <a:rPr lang="en-US" sz="2000" dirty="0"/>
              <a:t> </a:t>
            </a:r>
            <a:r>
              <a:rPr lang="en-US" sz="2000" dirty="0" err="1"/>
              <a:t>tetap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dana </a:t>
            </a:r>
            <a:r>
              <a:rPr lang="en-US" sz="2000" dirty="0" err="1"/>
              <a:t>hibah</a:t>
            </a:r>
            <a:r>
              <a:rPr lang="en-US" sz="2000" dirty="0"/>
              <a:t> </a:t>
            </a:r>
            <a:r>
              <a:rPr lang="en-US" sz="2000" dirty="0" err="1"/>
              <a:t>penelitian</a:t>
            </a:r>
            <a:r>
              <a:rPr lang="en-US" sz="2000" dirty="0"/>
              <a:t>, </a:t>
            </a:r>
            <a:r>
              <a:rPr lang="en-US" sz="2000" dirty="0" err="1"/>
              <a:t>lalu</a:t>
            </a:r>
            <a:r>
              <a:rPr lang="en-US" sz="2000" dirty="0"/>
              <a:t> </a:t>
            </a:r>
            <a:r>
              <a:rPr lang="en-US" sz="2000" dirty="0" err="1"/>
              <a:t>harga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perlu</a:t>
            </a:r>
            <a:r>
              <a:rPr lang="en-US" sz="2000" dirty="0"/>
              <a:t> </a:t>
            </a:r>
            <a:r>
              <a:rPr lang="en-US" sz="2000" dirty="0" err="1"/>
              <a:t>dipastikan</a:t>
            </a:r>
            <a:r>
              <a:rPr lang="en-US" sz="2000" dirty="0"/>
              <a:t>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Lokasi, jadwal, dan kerja sama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1"/>
                </a:solidFill>
              </a:rPr>
              <a:t>Logistik pemasangan, pelaporan bersama, MoU, dan keputusan rapat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Lokasi Uji dan </a:t>
            </a:r>
            <a:r>
              <a:rPr lang="en-US" sz="2800" b="1" dirty="0" err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Jadwal</a:t>
            </a: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dirty="0"/>
              <a:t>B</a:t>
            </a: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ersama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860006"/>
              </p:ext>
            </p:extLst>
          </p:nvPr>
        </p:nvGraphicFramePr>
        <p:xfrm>
          <a:off x="457200" y="105156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Tipe lokasi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Kandidat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hulu/perkotaan rawan banjir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Citarum Hulu (survei infiltrasi 26–27 Sep 2026 telah dilakukan)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Sudah</a:t>
                      </a:r>
                      <a:r>
                        <a:rPr lang="en-US" sz="1600" dirty="0"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6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Disurvei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988454"/>
              </p:ext>
            </p:extLst>
          </p:nvPr>
        </p:nvGraphicFramePr>
        <p:xfrm>
          <a:off x="457200" y="2148840"/>
          <a:ext cx="7040881" cy="3017520"/>
        </p:xfrm>
        <a:graphic>
          <a:graphicData uri="http://schemas.openxmlformats.org/drawingml/2006/table">
            <a:tbl>
              <a:tblPr/>
              <a:tblGrid>
                <a:gridCol w="4433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8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Aktivitas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Kick-off &amp; MoU mitra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Identifikasi &amp; izin lokasi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Produksi, firmware &amp; burning test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Pengamanan &amp; penangkal petir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Pemasangan &amp; commissioning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A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cloud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A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operasional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A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Validasi end-user &amp; laporan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A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panel-deskripsi"/>
          <p:cNvSpPr/>
          <p:nvPr/>
        </p:nvSpPr>
        <p:spPr>
          <a:xfrm>
            <a:off x="7635240" y="1051560"/>
            <a:ext cx="4069080" cy="5394960"/>
          </a:xfrm>
          <a:prstGeom prst="roundRect">
            <a:avLst>
              <a:gd name="adj" fmla="val 17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ks-deskripsi"/>
          <p:cNvSpPr txBox="1"/>
          <p:nvPr/>
        </p:nvSpPr>
        <p:spPr>
          <a:xfrm>
            <a:off x="7772400" y="1143000"/>
            <a:ext cx="3794760" cy="502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dirty="0"/>
              <a:t>L</a:t>
            </a:r>
            <a:r>
              <a:rPr lang="en-US" dirty="0">
                <a:solidFill>
                  <a:schemeClr val="tx1"/>
                </a:solidFill>
              </a:rPr>
              <a:t>okasi diperlukan untuk menunjukkan adaptabilitas alat pada kondisi hidrologi berbeda. Hanya DAS Citarum Hulu yang sudah memiliki data lapangan (survei infiltrasi 7 titik).</a:t>
            </a:r>
            <a:endParaRPr lang="en-US" sz="2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Jadwal berupa usulan berdasarkan timeline terkompresi briefing internal. Bulan yang diarsir menandai periode aktivitas.</a:t>
            </a:r>
            <a:endParaRPr lang="en-US" sz="2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Jalur kritis: </a:t>
            </a:r>
            <a:r>
              <a:rPr lang="en-US" b="1" dirty="0">
                <a:solidFill>
                  <a:schemeClr val="tx1"/>
                </a:solidFill>
              </a:rPr>
              <a:t>produksi dan pengamanan harus rampung pada Oktober </a:t>
            </a:r>
            <a:r>
              <a:rPr lang="en-US" dirty="0">
                <a:solidFill>
                  <a:schemeClr val="tx1"/>
                </a:solidFill>
              </a:rPr>
              <a:t>agar pemasangan dan monitoring masih </a:t>
            </a:r>
            <a:r>
              <a:rPr lang="en-US" dirty="0" err="1">
                <a:solidFill>
                  <a:schemeClr val="tx1"/>
                </a:solidFill>
              </a:rPr>
              <a:t>menyisakan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waktu</a:t>
            </a:r>
            <a:r>
              <a:rPr lang="en-US" dirty="0"/>
              <a:t>.</a:t>
            </a:r>
            <a:endParaRPr lang="en-US" sz="2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b="1" dirty="0">
                <a:solidFill>
                  <a:schemeClr val="tx1"/>
                </a:solidFill>
              </a:rPr>
              <a:t>Peran mitra: </a:t>
            </a:r>
            <a:r>
              <a:rPr lang="en-US" dirty="0">
                <a:solidFill>
                  <a:schemeClr val="tx1"/>
                </a:solidFill>
              </a:rPr>
              <a:t>membuka akses jaringan klien untuk lokasi, mengurus logistik pemasangan, dan mendampingi teknis di setiap lokasi.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</a:t>
            </a: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Pembahasan</a:t>
            </a: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dirty="0" err="1"/>
              <a:t>P</a:t>
            </a:r>
            <a:r>
              <a:rPr lang="en-US" sz="2800" b="1" dirty="0" err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erjanjian</a:t>
            </a: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dirty="0" err="1"/>
              <a:t>K</a:t>
            </a:r>
            <a:r>
              <a:rPr lang="en-US" sz="2800" b="1" dirty="0" err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erja</a:t>
            </a: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dirty="0"/>
              <a:t>S</a:t>
            </a: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 (MoU)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134990"/>
              </p:ext>
            </p:extLst>
          </p:nvPr>
        </p:nvGraphicFramePr>
        <p:xfrm>
          <a:off x="457200" y="1051560"/>
          <a:ext cx="11348720" cy="2834640"/>
        </p:xfrm>
        <a:graphic>
          <a:graphicData uri="http://schemas.openxmlformats.org/drawingml/2006/table">
            <a:tbl>
              <a:tblPr/>
              <a:tblGrid>
                <a:gridCol w="2837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5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5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Kepentingan ITB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Kepentingan PT MANVIS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Kekayaan intelektual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Hak cipta dashboard &amp; sistem integrasi, paten sederhana atas nama ITB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Hak penggunaan desain untuk produksi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Produksi &amp; distribusi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 mutu sesuai hasil validasi TKT 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Hak produksi, distribusi, dan komersialisasi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sharing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Royalti/bagi hasil untuk institusi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Skema harga dan margin yang layak pasar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server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Akses penuh data riset untuk publikasi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Kepemilikan platform (VPS, domain)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Publikasi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Jurnal Q1 dan diseminasi ilmiah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Perlindungan informasi teknis sensitif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Pelaporan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Bukti pemenuhan TKT 7 &amp; laporan PMU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Laporan progres mingguan bersama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panel-deskripsi"/>
          <p:cNvSpPr/>
          <p:nvPr/>
        </p:nvSpPr>
        <p:spPr>
          <a:xfrm>
            <a:off x="457200" y="4160520"/>
            <a:ext cx="11247120" cy="183388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ks-deskripsi"/>
          <p:cNvSpPr txBox="1"/>
          <p:nvPr/>
        </p:nvSpPr>
        <p:spPr>
          <a:xfrm>
            <a:off x="487680" y="4338320"/>
            <a:ext cx="11079480" cy="183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Tabel</a:t>
            </a:r>
            <a:r>
              <a:rPr lang="en-US" dirty="0">
                <a:solidFill>
                  <a:schemeClr val="tx1"/>
                </a:solidFill>
              </a:rPr>
              <a:t> ini memetakan kepentingan kedua pihak per topik. Isinya adalah bahan diskusi, bukan kesepakatan final.</a:t>
            </a:r>
            <a:endParaRPr lang="en-US" sz="2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RAB hibah menganggarkan pendaftaran dua hak cipta dan satu paten sederhana atas nama perguruan tinggi. Sesuai ketentuan, pendaftaran tidak menggunakan konsultan KI pihak ketiga.</a:t>
            </a:r>
            <a:endParaRPr lang="en-US" sz="2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Topik data dan server perlu ditegaskan karena platform cloud tercatat milik mitra, sedangkan data hasil riset harus tetap dapat diakses ITB untuk laporan dan publikasi.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Keputusan yang diperlukan dan tindak lanjut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052661"/>
              </p:ext>
            </p:extLst>
          </p:nvPr>
        </p:nvGraphicFramePr>
        <p:xfrm>
          <a:off x="457200" y="1051560"/>
          <a:ext cx="7680960" cy="36576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Keputusan / tindak lanjut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Tenggat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unit dirakit lengkap (3 lapangan vs cadangan/demo)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ITB + MANVIS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Isi </a:t>
                      </a:r>
                      <a:r>
                        <a:rPr lang="en-US" sz="1500" dirty="0" err="1">
                          <a:solidFill>
                            <a:srgbClr val="FF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ini</a:t>
                      </a:r>
                      <a:r>
                        <a:rPr lang="en-US" sz="1500" dirty="0">
                          <a:solidFill>
                            <a:srgbClr val="FF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pas </a:t>
                      </a:r>
                      <a:r>
                        <a:rPr lang="en-US" sz="1500" dirty="0" err="1">
                          <a:solidFill>
                            <a:srgbClr val="FF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rapat</a:t>
                      </a:r>
                      <a:endParaRPr lang="en-US" sz="15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Daftar hardware industri natura &amp; jadwal serah terima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MANVIS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fabrikasi PCB, perakitan, logam (quotation &amp; kontrak)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Spesifikasi pengamanan &amp; penangkal petir per lokasi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MANVIS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Programmer &amp; VPS aktif; fitur minimum dashboard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MANVIS + ITB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Angka final kontribusi mitra &amp; bentuk tunai/natura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ITB + MANVIS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Penetapan 3 lokasi &amp; perizinan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ITB + MANVIS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 MoU (KI, produksi, revenue sharing, data)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ITB + MANVIS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 laporan progres mingguan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4" name="foto-panel-2" descr="pan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051560"/>
            <a:ext cx="3083560" cy="3344426"/>
          </a:xfrm>
          <a:prstGeom prst="rect">
            <a:avLst/>
          </a:prstGeom>
        </p:spPr>
      </p:pic>
      <p:sp>
        <p:nvSpPr>
          <p:cNvPr id="5" name="panel-deskripsi"/>
          <p:cNvSpPr/>
          <p:nvPr/>
        </p:nvSpPr>
        <p:spPr>
          <a:xfrm>
            <a:off x="457200" y="5349240"/>
            <a:ext cx="11247120" cy="914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ks-deskripsi"/>
          <p:cNvSpPr txBox="1"/>
          <p:nvPr/>
        </p:nvSpPr>
        <p:spPr>
          <a:xfrm>
            <a:off x="660400" y="5506938"/>
            <a:ext cx="10789920" cy="355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Kolom PIC adalah usulan awal. Tenggat sengaja dikosongkan untuk diisi saat rapat.</a:t>
            </a:r>
            <a:endParaRPr lang="en-US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Notulen rapat sebaiknya ditandatangani kedua pihak sebagai dasar MoU dan bukti kontribusi mitra.</a:t>
            </a:r>
            <a:endParaRPr lang="en-US" dirty="0"/>
          </a:p>
        </p:txBody>
      </p:sp>
      <p:sp>
        <p:nvSpPr>
          <p:cNvPr id="7" name="Text 3"/>
          <p:cNvSpPr txBox="1"/>
          <p:nvPr/>
        </p:nvSpPr>
        <p:spPr>
          <a:xfrm>
            <a:off x="8503920" y="4128532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</a:rPr>
              <a:t>Unit </a:t>
            </a:r>
            <a:r>
              <a:rPr lang="en-US" sz="1100" i="1" dirty="0" err="1">
                <a:solidFill>
                  <a:schemeClr val="tx1"/>
                </a:solidFill>
              </a:rPr>
              <a:t>HydroSense</a:t>
            </a:r>
            <a:r>
              <a:rPr lang="en-US" sz="1100" i="1" dirty="0">
                <a:solidFill>
                  <a:schemeClr val="tx1"/>
                </a:solidFill>
              </a:rPr>
              <a:t>-IoT</a:t>
            </a:r>
            <a:r>
              <a:rPr lang="en-US" sz="1100" dirty="0"/>
              <a:t> </a:t>
            </a:r>
            <a:r>
              <a:rPr lang="en-US" sz="1100" i="1" dirty="0">
                <a:solidFill>
                  <a:schemeClr val="tx1"/>
                </a:solidFill>
              </a:rPr>
              <a:t>TKT 6, Jatinangor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1"/>
                </a:solidFill>
              </a:rPr>
              <a:t>Tim HydroSense-IoT · Institut Teknologi Bandung  ×  PT MANVIS Teknologi Enjinering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ydroSense Mitra">
  <a:themeElements>
    <a:clrScheme name="HydroSense Mitra">
      <a:dk1>
        <a:srgbClr val="14212B"/>
      </a:dk1>
      <a:lt1>
        <a:srgbClr val="FFFFFF"/>
      </a:lt1>
      <a:dk2>
        <a:srgbClr val="0F2A44"/>
      </a:dk2>
      <a:lt2>
        <a:srgbClr val="EEF3F6"/>
      </a:lt2>
      <a:accent1>
        <a:srgbClr val="0F2A44"/>
      </a:accent1>
      <a:accent2>
        <a:srgbClr val="6F9A1F"/>
      </a:accent2>
      <a:accent3>
        <a:srgbClr val="1F7A8C"/>
      </a:accent3>
      <a:accent4>
        <a:srgbClr val="7C8B96"/>
      </a:accent4>
      <a:accent5>
        <a:srgbClr val="C9772B"/>
      </a:accent5>
      <a:accent6>
        <a:srgbClr val="B5432F"/>
      </a:accent6>
      <a:hlink>
        <a:srgbClr val="1F7A8C"/>
      </a:hlink>
      <a:folHlink>
        <a:srgbClr val="6F9A1F"/>
      </a:folHlink>
    </a:clrScheme>
    <a:fontScheme name="HydroSense Mitr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2320</Words>
  <Application>Microsoft Office PowerPoint</Application>
  <PresentationFormat>Widescreen</PresentationFormat>
  <Paragraphs>404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HydroSense Mitra</vt:lpstr>
      <vt:lpstr>Rapat Koordinasi ITB dan PT MANVIS Teknologi Enjinering</vt:lpstr>
      <vt:lpstr>Agenda dan tujuan rapat</vt:lpstr>
      <vt:lpstr>Luaran Program Prime Step</vt:lpstr>
      <vt:lpstr>Bentuk dan spesifikasi alat</vt:lpstr>
      <vt:lpstr>CONCEPTUAL FRAMEWORK</vt:lpstr>
      <vt:lpstr>Bentuk fisik dan tata letak unit</vt:lpstr>
      <vt:lpstr>Server Sistem dan Alur Data</vt:lpstr>
      <vt:lpstr>Spesifikasi komponen per unit</vt:lpstr>
      <vt:lpstr>Pembuatan alat dan keamanan lokasi</vt:lpstr>
      <vt:lpstr>Alur Pembuatan dan Pembagian Pekerjaan Produksi</vt:lpstr>
      <vt:lpstr>Keamanan alat dan instalasi lapangan</vt:lpstr>
      <vt:lpstr>Contoh Keamanan Alat</vt:lpstr>
      <vt:lpstr>Dashboard Cloud: Kondisi Saat ini dan Target</vt:lpstr>
      <vt:lpstr>Pembiayaan dari mitra PT MANVIS</vt:lpstr>
      <vt:lpstr>Rincian Kontribusi PT MANVIS</vt:lpstr>
      <vt:lpstr>Lokasi, jadwal, dan kerja sama</vt:lpstr>
      <vt:lpstr>Lokasi Uji dan Jadwal Bersama</vt:lpstr>
      <vt:lpstr>Poin Pembahasan Perjanjian Kerja Sama (MoU)</vt:lpstr>
      <vt:lpstr>Keputusan yang diperlukan dan tindak lanjut</vt:lpstr>
      <vt:lpstr>Terima kasih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Rapat Koordinasi ITB – PT MANVIS · HydroSense-IoT</dc:title>
  <dc:subject>PptxGenJS Presentation</dc:subject>
  <dc:creator>PptxGenJS</dc:creator>
  <cp:lastModifiedBy>Naila Alfarafisha Zakiyarahman</cp:lastModifiedBy>
  <cp:revision>5</cp:revision>
  <dcterms:created xsi:type="dcterms:W3CDTF">2026-10-05T09:56:03Z</dcterms:created>
  <dcterms:modified xsi:type="dcterms:W3CDTF">2026-10-06T00:23:32Z</dcterms:modified>
</cp:coreProperties>
</file>